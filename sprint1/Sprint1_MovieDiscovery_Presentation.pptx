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13"/>
    <p:sldId id="267" r:id="rId14"/>
    <p:sldId id="269" r:id="rId15"/>
    <p:sldId id="270" r:id="rId16"/>
    <p:sldId id="271" r:id="rId17"/>
    <p:sldId id="272" r:id="rId18"/>
    <p:sldId id="273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9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Leelawadee UI"/>
                <a:cs typeface="Leelawadee UI"/>
              </a:rPr>
              <a:t>CP352301 Script Programming (1/2569) · Final Term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1F3864"/>
                </a:solidFill>
                <a:latin typeface="Leelawadee UI"/>
                <a:cs typeface="Leelawadee UI"/>
              </a:rPr>
              <a:t>ระบบค้นพบภาพยนตร์และสร้างรายการรับชม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1284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95959"/>
                </a:solidFill>
                <a:latin typeface="Leelawadee UI"/>
                <a:cs typeface="Leelawadee UI"/>
              </a:rPr>
              <a:t>Movie Discovery &amp; Watchlist Builder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27248" y="2724912"/>
            <a:ext cx="5943600" cy="54864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bIns="128016" rtlCol="0" anchor="ctr"/>
          <a:lstStyle/>
          <a:p>
            <a:pPr algn="ctr">
              <a:lnSpc>
                <a:spcPct val="122000"/>
              </a:lnSpc>
              <a:spcAft>
                <a:spcPts val="500"/>
              </a:spcAft>
            </a:pPr>
            <a:r>
              <a:rPr sz="1600" b="1">
                <a:solidFill>
                  <a:srgbClr val="1F3864"/>
                </a:solidFill>
                <a:latin typeface="Leelawadee UI"/>
                <a:cs typeface="Leelawadee UI"/>
              </a:rPr>
              <a:t>การนำเสนอ Sprint 1 — Front-End App Dev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61188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Leelawadee UI"/>
                <a:cs typeface="Leelawadee UI"/>
              </a:rPr>
              <a:t>Planner / Team Leader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500" b="1">
                <a:solidFill>
                  <a:srgbClr val="B00000"/>
                </a:solidFill>
                <a:latin typeface="Leelawadee UI"/>
                <a:cs typeface="Leelawadee UI"/>
              </a:rPr>
              <a:t>[รอเพิ่มชื่อ]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Leelawadee UI"/>
                <a:cs typeface="Leelawadee UI"/>
              </a:rPr>
              <a:t>วางแผน กำหนดขอบเขต และจัดทำเอกสาร PLAN.md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361188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Leelawadee UI"/>
                <a:cs typeface="Leelawadee UI"/>
              </a:rPr>
              <a:t>Coder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500" b="1">
                <a:solidFill>
                  <a:srgbClr val="B00000"/>
                </a:solidFill>
                <a:latin typeface="Leelawadee UI"/>
                <a:cs typeface="Leelawadee UI"/>
              </a:rPr>
              <a:t>นายอเสข ปัญญาวงค์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Leelawadee UI"/>
                <a:cs typeface="Leelawadee UI"/>
              </a:rPr>
              <a:t>พัฒนาส่วนติดต่อผู้ใช้และตรรกะของโปรแกรม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0727" y="361188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600" b="1" dirty="0">
                <a:solidFill>
                  <a:srgbClr val="1F3864"/>
                </a:solidFill>
                <a:latin typeface="Leelawadee UI"/>
                <a:cs typeface="Leelawadee UI"/>
              </a:rPr>
              <a:t>Debugger / QA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500" b="1" dirty="0">
                <a:solidFill>
                  <a:srgbClr val="B00000"/>
                </a:solidFill>
                <a:latin typeface="Leelawadee UI"/>
                <a:cs typeface="Leelawadee UI"/>
              </a:rPr>
              <a:t>[</a:t>
            </a:r>
            <a:r>
              <a:rPr sz="1500" b="1" dirty="0" err="1">
                <a:solidFill>
                  <a:srgbClr val="B00000"/>
                </a:solidFill>
                <a:latin typeface="Leelawadee UI"/>
                <a:cs typeface="Leelawadee UI"/>
              </a:rPr>
              <a:t>รอเพิ่มชื่อ</a:t>
            </a:r>
            <a:r>
              <a:rPr sz="1500" b="1" dirty="0">
                <a:solidFill>
                  <a:srgbClr val="B00000"/>
                </a:solidFill>
                <a:latin typeface="Leelawadee UI"/>
                <a:cs typeface="Leelawadee UI"/>
              </a:rPr>
              <a:t>]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 dirty="0" err="1">
                <a:solidFill>
                  <a:srgbClr val="595959"/>
                </a:solidFill>
                <a:latin typeface="Leelawadee UI"/>
                <a:cs typeface="Leelawadee UI"/>
              </a:rPr>
              <a:t>ทดสอบกรณีขอบเขต</a:t>
            </a:r>
            <a:r>
              <a:rPr sz="1250" b="0" dirty="0">
                <a:solidFill>
                  <a:srgbClr val="595959"/>
                </a:solidFill>
                <a:latin typeface="Leelawadee UI"/>
                <a:cs typeface="Leelawadee UI"/>
              </a:rPr>
              <a:t> </a:t>
            </a:r>
            <a:r>
              <a:rPr sz="1250" b="0" dirty="0" err="1">
                <a:solidFill>
                  <a:srgbClr val="595959"/>
                </a:solidFill>
                <a:latin typeface="Leelawadee UI"/>
                <a:cs typeface="Leelawadee UI"/>
              </a:rPr>
              <a:t>ตรวจมาตรฐาน</a:t>
            </a:r>
            <a:r>
              <a:rPr sz="1250" b="0" dirty="0">
                <a:solidFill>
                  <a:srgbClr val="595959"/>
                </a:solidFill>
                <a:latin typeface="Leelawadee UI"/>
                <a:cs typeface="Leelawadee UI"/>
              </a:rPr>
              <a:t> </a:t>
            </a:r>
            <a:r>
              <a:rPr sz="1250" b="0" dirty="0" err="1">
                <a:solidFill>
                  <a:srgbClr val="595959"/>
                </a:solidFill>
                <a:latin typeface="Leelawadee UI"/>
                <a:cs typeface="Leelawadee UI"/>
              </a:rPr>
              <a:t>และรายงานผล</a:t>
            </a:r>
            <a:endParaRPr sz="1250" b="0" dirty="0">
              <a:solidFill>
                <a:srgbClr val="595959"/>
              </a:solidFill>
              <a:latin typeface="Leelawadee UI"/>
              <a:cs typeface="Leelawade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5175504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Leelawadee UI"/>
                <a:cs typeface="Leelawadee UI"/>
              </a:rPr>
              <a:t>ผู้บรรยาย: Planner · Team Leader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Leelawadee UI"/>
                <a:cs typeface="Leelawadee UI"/>
              </a:rPr>
              <a:t>นำเสนอ 15–16 กันยายน 2569 · Sprint 1 (สัปดาห์ที่ 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3864"/>
                </a:solidFill>
                <a:latin typeface="Leelawadee UI"/>
                <a:cs typeface="Leelawadee UI"/>
              </a:rPr>
              <a:t>github.com/somjung/Movie-Discovery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Leelawadee UI"/>
                <a:cs typeface="Leelawadee UI"/>
              </a:rPr>
              <a:t>ปัญหาที่โครงงานต้องการแก้ (Problem Statement)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98280" y="91440"/>
            <a:ext cx="258775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BFD1E8"/>
                </a:solidFill>
                <a:latin typeface="Leelawadee UI"/>
                <a:cs typeface="Leelawadee UI"/>
              </a:rPr>
              <a:t>Project Pitch · 5 นาที</a:t>
            </a:r>
          </a:p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FB2D4"/>
                </a:solidFill>
                <a:latin typeface="Leelawadee UI"/>
                <a:cs typeface="Leelawadee UI"/>
              </a:rPr>
              <a:t>ผู้บรรยาย: Planner · Team Leader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394960" cy="274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800" b="1">
                <a:solidFill>
                  <a:srgbClr val="1F3864"/>
                </a:solidFill>
                <a:latin typeface="Leelawadee UI"/>
                <a:cs typeface="Leelawadee UI"/>
              </a:rPr>
              <a:t>ค้นพบภาพยนตร์ที่ตรงรสนิยมเป็นเรื่องยาก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0">
                <a:solidFill>
                  <a:srgbClr val="1A1A1A"/>
                </a:solidFill>
                <a:latin typeface="Leelawadee UI"/>
                <a:cs typeface="Leelawadee UI"/>
              </a:rPr>
              <a:t>แพลตฟอร์มสตรีมมิงนำเสนอภาพยนตร์ชุดเดียวกันให้ผู้ชมทุกคน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0">
                <a:solidFill>
                  <a:srgbClr val="1A1A1A"/>
                </a:solidFill>
                <a:latin typeface="Leelawadee UI"/>
                <a:cs typeface="Leelawadee UI"/>
              </a:rPr>
              <a:t>การหาภาพยนตร์ที่ตรงใจต้องพึ่งการลองผิดลองถูกหลายรอบ — เสียเวลาโดยไม่จำเป็น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394960" cy="274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800" b="1">
                <a:solidFill>
                  <a:srgbClr val="1F3864"/>
                </a:solidFill>
                <a:latin typeface="Leelawadee UI"/>
                <a:cs typeface="Leelawadee UI"/>
              </a:rPr>
              <a:t>รายชื่อที่อยากดู ถูกจดไว้กระจัดกระจาย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0">
                <a:solidFill>
                  <a:srgbClr val="1A1A1A"/>
                </a:solidFill>
                <a:latin typeface="Leelawadee UI"/>
                <a:cs typeface="Leelawadee UI"/>
              </a:rPr>
              <a:t>จดไว้ในโทรศัพท์ แชทส่วนตัว หรือรายการโปรดของแต่ละแพลตฟอร์ม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0">
                <a:solidFill>
                  <a:srgbClr val="1A1A1A"/>
                </a:solidFill>
                <a:latin typeface="Leelawadee UI"/>
                <a:cs typeface="Leelawadee UI"/>
              </a:rPr>
              <a:t>ผลลัพธ์: รายการสูญหาย ถูกหลงลืม และไม่ถูกนำมาใช้จริง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4340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B00000"/>
                </a:solidFill>
                <a:latin typeface="Leelawadee UI"/>
                <a:cs typeface="Leelawadee UI"/>
              </a:rPr>
              <a:t>เป้าหมายของโครงงาน: เปลี่ยน “ภาพยนตร์ที่ผู้ใช้ชื่นชอบ” ให้เป็น “รายการรับชม” ที่รวบรวมไว้ในที่เดียวอย่างเป็นระบบ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ระบบค้นพบภาพยนตร์และสร้างรายการรับชม · CP352301 (1/2569)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Leelawadee UI"/>
                <a:cs typeface="Leelawadee UI"/>
              </a:rPr>
              <a:t>แนวทางแก้ปัญหา (Proposed Solution)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98280" y="91440"/>
            <a:ext cx="258775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BFD1E8"/>
                </a:solidFill>
                <a:latin typeface="Leelawadee UI"/>
                <a:cs typeface="Leelawadee UI"/>
              </a:rPr>
              <a:t>Project Pitch · 5 นาที</a:t>
            </a:r>
          </a:p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FB2D4"/>
                </a:solidFill>
                <a:latin typeface="Leelawadee UI"/>
                <a:cs typeface="Leelawadee UI"/>
              </a:rPr>
              <a:t>ผู้บรรยาย: Planner · Team Leader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612648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Leelawadee UI"/>
                <a:cs typeface="Leelawadee UI"/>
              </a:rPr>
              <a:t>•  แอปพลิเคชันบรรทัดคำสั่ง (CLI) ทำงานบนเครื่องผู้ใช้ — ไม่ต้องมีเซิร์ฟเวอร์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Leelawadee UI"/>
                <a:cs typeface="Leelawadee UI"/>
              </a:rPr>
              <a:t>•  ผู้ใช้ระบุภาพยนตร์ตั้งต้น (Seed) หรือเงื่อนไข: ประเภท · นักแสดง · ผู้กำกับ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Leelawadee UI"/>
                <a:cs typeface="Leelawadee UI"/>
              </a:rPr>
              <a:t>•  ระบบดึงจาก TMDB: ภาพยนตร์ที่คล้ายกัน (Similar) + รายการแนะนำ (Recommendations)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Leelawadee UI"/>
                <a:cs typeface="Leelawadee UI"/>
              </a:rPr>
              <a:t>•  กรองและจัดอันดับ: ช่วงปี · คะแนนขั้นต่ำ · ความยาว · ตัดรายการซ้ำ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Leelawadee UI"/>
                <a:cs typeface="Leelawadee UI"/>
              </a:rPr>
              <a:t>•  บันทึกลงคลังส่วนตัว (SQLite) → สร้างรายการ Top-10 → ส่งออก 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160520"/>
            <a:ext cx="6126480" cy="105156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0">
                <a:solidFill>
                  <a:srgbClr val="1F3864"/>
                </a:solidFill>
                <a:latin typeface="Leelawadee UI"/>
                <a:cs typeface="Leelawadee UI"/>
              </a:rPr>
              <a:t>จุดเด่น: ข้อมูล Similar มาจาก API โดยตรง — ทีมพัฒนาตรรกะการคัดเลือก จัดอันดับ จัดการคลังข้อมูล และการส่งออกเองทั้งหมด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6126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Leelawadee UI"/>
                <a:cs typeface="Leelawadee UI"/>
              </a:rPr>
              <a:t>ขอบเขต: ไม่รวมการเล่นวิดีโอหรือดาวน์โหลด — เน้นการค้นพบ จัดเก็บ และส่งออกรายการเท่านั้น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9168" y="1207008"/>
            <a:ext cx="4206240" cy="512064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28016" rIns="73152" bIns="128016" rtlCol="0" anchor="ctr"/>
          <a:lstStyle/>
          <a:p>
            <a:pPr algn="ctr">
              <a:lnSpc>
                <a:spcPct val="122000"/>
              </a:lnSpc>
              <a:spcAft>
                <a:spcPts val="500"/>
              </a:spcAft>
            </a:pPr>
            <a:r>
              <a:rPr sz="1100" b="0">
                <a:solidFill>
                  <a:srgbClr val="1F3864"/>
                </a:solidFill>
                <a:latin typeface="Leelawadee UI"/>
                <a:cs typeface="Leelawadee UI"/>
              </a:rPr>
              <a:t>seed — movie / genre / actor / director</a:t>
            </a:r>
          </a:p>
        </p:txBody>
      </p:sp>
      <p:sp>
        <p:nvSpPr>
          <p:cNvPr id="9" name="Down Arrow 8"/>
          <p:cNvSpPr/>
          <p:nvPr/>
        </p:nvSpPr>
        <p:spPr>
          <a:xfrm>
            <a:off x="9070848" y="1751076"/>
            <a:ext cx="182880" cy="173736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59168" y="1965960"/>
            <a:ext cx="4206240" cy="512064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28016" rIns="73152" bIns="128016" rtlCol="0" anchor="ctr"/>
          <a:lstStyle/>
          <a:p>
            <a:pPr algn="ctr">
              <a:lnSpc>
                <a:spcPct val="122000"/>
              </a:lnSpc>
              <a:spcAft>
                <a:spcPts val="500"/>
              </a:spcAft>
            </a:pPr>
            <a:r>
              <a:rPr sz="1100" b="0">
                <a:solidFill>
                  <a:srgbClr val="1F3864"/>
                </a:solidFill>
                <a:latin typeface="Leelawadee UI"/>
                <a:cs typeface="Leelawadee UI"/>
              </a:rPr>
              <a:t>TMDB fetch — search · discover · similar · recommendations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070848" y="2510028"/>
            <a:ext cx="182880" cy="173736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59168" y="2724912"/>
            <a:ext cx="4206240" cy="512064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28016" rIns="73152" bIns="128016" rtlCol="0" anchor="ctr"/>
          <a:lstStyle/>
          <a:p>
            <a:pPr algn="ctr">
              <a:lnSpc>
                <a:spcPct val="122000"/>
              </a:lnSpc>
              <a:spcAft>
                <a:spcPts val="500"/>
              </a:spcAft>
            </a:pPr>
            <a:r>
              <a:rPr sz="1100" b="0">
                <a:solidFill>
                  <a:srgbClr val="1F3864"/>
                </a:solidFill>
                <a:latin typeface="Leelawadee UI"/>
                <a:cs typeface="Leelawadee UI"/>
              </a:rPr>
              <a:t>filter + rank — year · rating · runtime · dedupe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070848" y="3268980"/>
            <a:ext cx="182880" cy="173736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059168" y="3483864"/>
            <a:ext cx="4206240" cy="512064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28016" rIns="73152" bIns="128016" rtlCol="0" anchor="ctr"/>
          <a:lstStyle/>
          <a:p>
            <a:pPr algn="ctr">
              <a:lnSpc>
                <a:spcPct val="122000"/>
              </a:lnSpc>
              <a:spcAft>
                <a:spcPts val="500"/>
              </a:spcAft>
            </a:pPr>
            <a:r>
              <a:rPr sz="1100" b="0">
                <a:solidFill>
                  <a:srgbClr val="1F3864"/>
                </a:solidFill>
                <a:latin typeface="Leelawadee UI"/>
                <a:cs typeface="Leelawadee UI"/>
              </a:rPr>
              <a:t>SQLite library — movies · similar_links · watchlist · ฯลฯ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070848" y="4027932"/>
            <a:ext cx="182880" cy="173736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059168" y="4242816"/>
            <a:ext cx="4206240" cy="512064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28016" rIns="73152" bIns="128016" rtlCol="0" anchor="ctr"/>
          <a:lstStyle/>
          <a:p>
            <a:pPr algn="ctr">
              <a:lnSpc>
                <a:spcPct val="122000"/>
              </a:lnSpc>
              <a:spcAft>
                <a:spcPts val="500"/>
              </a:spcAft>
            </a:pPr>
            <a:r>
              <a:rPr sz="1100" b="0">
                <a:solidFill>
                  <a:srgbClr val="1F3864"/>
                </a:solidFill>
                <a:latin typeface="Leelawadee UI"/>
                <a:cs typeface="Leelawadee UI"/>
              </a:rPr>
              <a:t>Top-10 watchlist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9070848" y="4786884"/>
            <a:ext cx="182880" cy="173736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059168" y="5001768"/>
            <a:ext cx="4206240" cy="512064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28016" rIns="73152" bIns="128016" rtlCol="0" anchor="ctr"/>
          <a:lstStyle/>
          <a:p>
            <a:pPr algn="ctr">
              <a:lnSpc>
                <a:spcPct val="122000"/>
              </a:lnSpc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Leelawadee UI"/>
                <a:cs typeface="Leelawadee UI"/>
              </a:rPr>
              <a:t>CSV 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ระบบค้นพบภาพยนตร์และสร้างรายการรับชม · CP352301 (1/2569)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Leelawadee UI"/>
                <a:cs typeface="Leelawadee UI"/>
              </a:rPr>
              <a:t>เทคโนโลยีที่ใช้ (Technology Stack)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98280" y="91440"/>
            <a:ext cx="258775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BFD1E8"/>
                </a:solidFill>
                <a:latin typeface="Leelawadee UI"/>
                <a:cs typeface="Leelawadee UI"/>
              </a:rPr>
              <a:t>Project Pitch · 5 นาที</a:t>
            </a:r>
          </a:p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FB2D4"/>
                </a:solidFill>
                <a:latin typeface="Leelawadee UI"/>
                <a:cs typeface="Leelawadee UI"/>
              </a:rPr>
              <a:t>ผู้บรรยาย: Planner · Team Leader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07008"/>
            <a:ext cx="5486400" cy="221284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Leelawadee UI"/>
                <a:cs typeface="Leelawadee UI"/>
              </a:rPr>
              <a:t>หมวดหมู่โครงงาน (Domain)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Leelawadee UI"/>
                <a:cs typeface="Leelawadee UI"/>
              </a:rPr>
              <a:t>การวิเคราะห์และจัดการข้อมูล (Data Analysis &amp; Management)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Leelawadee UI"/>
                <a:cs typeface="Leelawadee UI"/>
              </a:rPr>
              <a:t>สอดคล้องกับตัวอย่างในเอกสารรายวิชา (movie ratings analyzer)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07008"/>
            <a:ext cx="5486400" cy="221284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Leelawadee UI"/>
                <a:cs typeface="Leelawadee UI"/>
              </a:rPr>
              <a:t>API ที่ใช้ (JSON ผ่าน HTTP GET)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Leelawadee UI"/>
                <a:cs typeface="Leelawadee UI"/>
              </a:rPr>
              <a:t>TMDB (หลัก) — Similar · Recommendations · search · discover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Leelawadee UI"/>
                <a:cs typeface="Leelawadee UI"/>
              </a:rPr>
              <a:t>OMDb (เสริม) — คะแนน IMDb / Rotten Tomatoes / Metacritic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00" b="0">
                <a:solidFill>
                  <a:srgbClr val="595959"/>
                </a:solidFill>
                <a:latin typeface="Leelawadee UI"/>
                <a:cs typeface="Leelawadee UI"/>
              </a:rPr>
              <a:t>ใช้งานฟรี: TMDB แบบไม่เชิงพาณิชย์ (แสดงเครดิต) · OMDb 1,000 คำขอ/วัน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639312"/>
            <a:ext cx="5486400" cy="221284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Leelawadee UI"/>
                <a:cs typeface="Leelawadee UI"/>
              </a:rPr>
              <a:t>การจัดเก็บข้อมูล (Persistence)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Leelawadee UI"/>
                <a:cs typeface="Leelawadee UI"/>
              </a:rPr>
              <a:t>SQLite 6 ตาราง: movies · similar_links · watchlist · favorites · searches · api_cache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Leelawadee UI"/>
                <a:cs typeface="Leelawadee UI"/>
              </a:rPr>
              <a:t>CSV — ส่งออกรายการรับชมเพื่อนำไปใช้ต่อ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00" b="0">
                <a:solidFill>
                  <a:srgbClr val="595959"/>
                </a:solidFill>
                <a:latin typeface="Leelawadee UI"/>
                <a:cs typeface="Leelawadee UI"/>
              </a:rPr>
              <a:t>ข้อมูลเก็บในเครื่องผู้ใช้ทั้งหมด — ไม่มีส่วนเซิร์ฟเวอร์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639312"/>
            <a:ext cx="5486400" cy="221284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Leelawadee UI"/>
                <a:cs typeface="Leelawadee UI"/>
              </a:rPr>
              <a:t>รูปแบบการเขียนโปรแกรม (Framework Style)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Leelawadee UI"/>
                <a:cs typeface="Leelawadee UI"/>
              </a:rPr>
              <a:t>OOP — คลาสหลัก: TmdbClient · MovieStore · DiscoveryService · WatchlistBuilder · Exporter · 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ระบบค้นพบภาพยนตร์และสร้างรายการรับชม · CP352301 (1/2569)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Leelawadee UI"/>
                <a:cs typeface="Leelawadee UI"/>
              </a:rPr>
              <a:t>บทบาททีมและคุณสมบัติหลัก (Roles &amp; MVP Features)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98280" y="91440"/>
            <a:ext cx="258775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BFD1E8"/>
                </a:solidFill>
                <a:latin typeface="Leelawadee UI"/>
                <a:cs typeface="Leelawadee UI"/>
              </a:rPr>
              <a:t>Project Pitch · 5 นาที</a:t>
            </a:r>
          </a:p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FB2D4"/>
                </a:solidFill>
                <a:latin typeface="Leelawadee UI"/>
                <a:cs typeface="Leelawadee UI"/>
              </a:rPr>
              <a:t>ผู้บรรยาย: Planner · Team Leader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188720"/>
            <a:ext cx="3474720" cy="129844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  <a:latin typeface="Leelawadee UI"/>
                <a:cs typeface="Leelawadee UI"/>
              </a:rPr>
              <a:t>Planner / Team Leader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400" b="1">
                <a:solidFill>
                  <a:srgbClr val="B00000"/>
                </a:solidFill>
                <a:latin typeface="Leelawadee UI"/>
                <a:cs typeface="Leelawadee UI"/>
              </a:rPr>
              <a:t>[รอเพิ่มชื่อ]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595959"/>
                </a:solidFill>
                <a:latin typeface="Leelawadee UI"/>
                <a:cs typeface="Leelawadee UI"/>
              </a:rPr>
              <a:t>วางแผนและกำหนดขอบเขตงาน · นิยาม DoD · เอกสาร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1188720"/>
            <a:ext cx="3474720" cy="129844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  <a:latin typeface="Leelawadee UI"/>
                <a:cs typeface="Leelawadee UI"/>
              </a:rPr>
              <a:t>Coder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400" b="1">
                <a:solidFill>
                  <a:srgbClr val="B00000"/>
                </a:solidFill>
                <a:latin typeface="Leelawadee UI"/>
                <a:cs typeface="Leelawadee UI"/>
              </a:rPr>
              <a:t>นายอเสข ปัญญาวงค์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595959"/>
                </a:solidFill>
                <a:latin typeface="Leelawadee UI"/>
                <a:cs typeface="Leelawadee UI"/>
              </a:rPr>
              <a:t>พัฒนาตรรกะโปรแกรม ชั้นติดต่อผู้ใช้ และชุดทดสอบ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0727" y="1188720"/>
            <a:ext cx="3474720" cy="129844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  <a:latin typeface="Leelawadee UI"/>
                <a:cs typeface="Leelawadee UI"/>
              </a:rPr>
              <a:t>Debugger / QA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400" b="1">
                <a:solidFill>
                  <a:srgbClr val="B00000"/>
                </a:solidFill>
                <a:latin typeface="Leelawadee UI"/>
                <a:cs typeface="Leelawadee UI"/>
              </a:rPr>
              <a:t>[รอเพิ่มชื่อ]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595959"/>
                </a:solidFill>
                <a:latin typeface="Leelawadee UI"/>
                <a:cs typeface="Leelawadee UI"/>
              </a:rPr>
              <a:t>ทดสอบกรณีขอบเขต · ตรวจ PEP 8 · รายงานผล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578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Leelawadee UI"/>
                <a:cs typeface="Leelawadee UI"/>
              </a:rPr>
              <a:t>(บทบาทหมุนเวียนทุกรอบ Sprint ตามเอกสารรายวิชา)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9718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Leelawadee UI"/>
                <a:cs typeface="Leelawadee UI"/>
              </a:rPr>
              <a:t>คุณสมบัติหลัก (MVP Features)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429000"/>
            <a:ext cx="109728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Leelawadee UI"/>
                <a:cs typeface="Leelawadee UI"/>
              </a:rPr>
              <a:t>•  ค้นหาและสำรวจภาพยนตร์ตามชื่อเรื่อง ประเภท นักแสดง หรือผู้กำกับ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Leelawadee UI"/>
                <a:cs typeface="Leelawadee UI"/>
              </a:rPr>
              <a:t>•  ค้นพบภาพยนตร์ที่คล้ายกันและรายการแนะนำจากภาพยนตร์ตั้งต้น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Leelawadee UI"/>
                <a:cs typeface="Leelawadee UI"/>
              </a:rPr>
              <a:t>•  สร้างรายการ Top-10 พร้อมกรองปี/คะแนน/ความยาว ตัดซ้ำ และตัดเรื่องที่บันทึกไว้แล้ว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Leelawadee UI"/>
                <a:cs typeface="Leelawadee UI"/>
              </a:rPr>
              <a:t>•  คลังภาพยนตร์ส่วนตัว (SQLite): รายการโปรดและประวัติการค้นหา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Leelawadee UI"/>
                <a:cs typeface="Leelawadee UI"/>
              </a:rPr>
              <a:t>•  ส่งออกรายการรับชมเป็น CSV เพื่อนำไปใช้ต่อ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ระบบค้นพบภาพยนตร์และสร้างรายการรับชม · CP352301 (1/2569)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Leelawadee UI"/>
                <a:cs typeface="Leelawadee UI"/>
              </a:rPr>
              <a:t>คุณสมบัติเสริมและเกณฑ์ตรวจสอบ (Stretch &amp; Evaluation)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98280" y="91440"/>
            <a:ext cx="258775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BFD1E8"/>
                </a:solidFill>
                <a:latin typeface="Leelawadee UI"/>
                <a:cs typeface="Leelawadee UI"/>
              </a:rPr>
              <a:t>Project Pitch · 5 นาที</a:t>
            </a:r>
          </a:p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FB2D4"/>
                </a:solidFill>
                <a:latin typeface="Leelawadee UI"/>
                <a:cs typeface="Leelawadee UI"/>
              </a:rPr>
              <a:t>ผู้บรรยาย: Planner · Team Leader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Leelawadee UI"/>
                <a:cs typeface="Leelawadee UI"/>
              </a:rPr>
              <a:t>คุณสมบัติเสริม (Stretch — Optional)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Leelawadee UI"/>
                <a:cs typeface="Leelawadee UI"/>
              </a:rPr>
              <a:t>•  แสดงช่องทางรับชม (Watch Providers) ตามภูมิภาค — ข้อมูลจาก TMDB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Leelawadee UI"/>
                <a:cs typeface="Leelawadee UI"/>
              </a:rPr>
              <a:t>•  Movie Night Picker — สุ่มภาพยนตร์สำหรับรับชมประจำคืน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Leelawadee UI"/>
                <a:cs typeface="Leelawadee UI"/>
              </a:rPr>
              <a:t>•  แผนภูมิสรุปสถิติ เช่น คะแนนและแนวโน้ม (matplotlib)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Leelawadee UI"/>
                <a:cs typeface="Leelawadee UI"/>
              </a:rPr>
              <a:t>•  โหมดออฟไลน์สำหรับการนำเสนอ โดยใช้แคชที่บันทึกไว้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Leelawadee UI"/>
                <a:cs typeface="Leelawadee UI"/>
              </a:rPr>
              <a:t>เกณฑ์ตรวจสอบการประเมิน (Evaluation Checklist)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Leelawadee UI"/>
                <a:cs typeface="Leelawadee UI"/>
              </a:rPr>
              <a:t>•  API ทำงาน (GET + จัดการข้อผิดพลาด + แปลง JSON)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Leelawadee UI"/>
                <a:cs typeface="Leelawadee UI"/>
              </a:rPr>
              <a:t>•  ข้อมูลถูกจัดเก็บอย่างถูกต้อง (SQLite + CSV)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Leelawadee UI"/>
                <a:cs typeface="Leelawadee UI"/>
              </a:rPr>
              <a:t>•  โค้ดตามมาตรฐาน PEP 8 (flake8 / black)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Leelawadee UI"/>
                <a:cs typeface="Leelawadee UI"/>
              </a:rPr>
              <a:t>•  ทดสอบอัตโนมัติด้วย pytest (จำลองการเรียก API)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Leelawadee UI"/>
                <a:cs typeface="Leelawadee UI"/>
              </a:rPr>
              <a:t>•  CI/CD ทำงานจริง (GitHub Actions)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Leelawadee UI"/>
                <a:cs typeface="Leelawadee UI"/>
              </a:rPr>
              <a:t>•  README ครอบคลุมการติดตั้งและการใช้งาน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Leelawadee UI"/>
                <a:cs typeface="Leelawadee UI"/>
              </a:rPr>
              <a:t>•  ระบุบทบาทสมาชิกในทีมชัดเจน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ระบบค้นพบภาพยนตร์และสร้างรายการรับชม · CP352301 (1/2569)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  <a:cs typeface="Leelawadee UI"/>
              </a:rPr>
              <a:t>Sprint 1: เป้าหมายและขอบเขต (Front-End App Dev)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98280" y="91440"/>
            <a:ext cx="258775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BFD1E8"/>
                </a:solidFill>
                <a:latin typeface="Leelawadee UI"/>
                <a:cs typeface="Leelawadee UI"/>
              </a:rPr>
              <a:t>Sprint 1 · 10 นาที</a:t>
            </a:r>
          </a:p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FB2D4"/>
                </a:solidFill>
                <a:latin typeface="Leelawadee UI"/>
                <a:cs typeface="Leelawadee UI"/>
              </a:rPr>
              <a:t>ผู้บรรยาย: Coder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07008"/>
            <a:ext cx="6720840" cy="32918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Leelawadee UI"/>
                <a:cs typeface="Leelawadee UI"/>
              </a:rPr>
              <a:t>เป้าหมายของ Sprint 1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50" b="0">
                <a:solidFill>
                  <a:srgbClr val="1A1A1A"/>
                </a:solidFill>
                <a:latin typeface="Leelawadee UI"/>
                <a:cs typeface="Leelawadee UI"/>
              </a:rPr>
              <a:t>•  พัฒนาชั้นติดต่อผู้ใช้ (Presentation Layer) ให้สั่งงานผ่านเมนูคำสั่งได้สะดวก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50" b="0">
                <a:solidFill>
                  <a:srgbClr val="1A1A1A"/>
                </a:solidFill>
                <a:latin typeface="Leelawadee UI"/>
                <a:cs typeface="Leelawadee UI"/>
              </a:rPr>
              <a:t>•  ข้อความต้อนรับ + เมนูที่อ่านง่าย รับคำสั่ง และแปลงอินพุตด้วย .strip().lower()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50" b="0">
                <a:solidFill>
                  <a:srgbClr val="1A1A1A"/>
                </a:solidFill>
                <a:latin typeface="Leelawadee UI"/>
                <a:cs typeface="Leelawadee UI"/>
              </a:rPr>
              <a:t>•  ตรวจสอบความถูกต้องของข้อมูลนำเข้า (Input Validation) ครอบคลุมทุกกรณี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50" b="1">
                <a:solidFill>
                  <a:srgbClr val="B00000"/>
                </a:solidFill>
                <a:latin typeface="Leelawadee UI"/>
                <a:cs typeface="Leelawadee UI"/>
              </a:rPr>
              <a:t>•  หัวใจสำคัญ: โปรแกรมต้องไม่หยุดทำงานแม้ผู้ใช้ป้อนข้อมูลผิดพลาด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07008"/>
            <a:ext cx="4251960" cy="32918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Leelawadee UI"/>
                <a:cs typeface="Leelawadee UI"/>
              </a:rPr>
              <a:t>ขอบเขต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400" b="1">
                <a:solidFill>
                  <a:srgbClr val="1F3864"/>
                </a:solidFill>
                <a:latin typeface="Leelawadee UI"/>
                <a:cs typeface="Leelawadee UI"/>
              </a:rPr>
              <a:t>ในรอบนี้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300" b="0">
                <a:solidFill>
                  <a:srgbClr val="1A1A1A"/>
                </a:solidFill>
                <a:latin typeface="Leelawadee UI"/>
                <a:cs typeface="Leelawadee UI"/>
              </a:rPr>
              <a:t>CLI + ตรวจสอบอินพุต + จัดการข้อผิดพลาด + ชุดทดสอบอัตโนมัติ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400" b="1">
                <a:solidFill>
                  <a:srgbClr val="1F3864"/>
                </a:solidFill>
                <a:latin typeface="Leelawadee UI"/>
                <a:cs typeface="Leelawadee UI"/>
              </a:rPr>
              <a:t>Sprint 2 เป็นต้นไป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300" b="0">
                <a:solidFill>
                  <a:srgbClr val="1A1A1A"/>
                </a:solidFill>
                <a:latin typeface="Leelawadee UI"/>
                <a:cs typeface="Leelawadee UI"/>
              </a:rPr>
              <a:t>TMDB จริง · SQLite · ค้นหา/กรอง/เรียงลำดับ · ส่งออก CSV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00" b="0">
                <a:solidFill>
                  <a:srgbClr val="595959"/>
                </a:solidFill>
                <a:latin typeface="Leelawadee UI"/>
                <a:cs typeface="Leelawadee UI"/>
              </a:rPr>
              <a:t>หมายเหตุ: search / discover สาธิตด้วยข้อมูลตัวอย่าง 5 เรื่องที่ฝังในโปรแกรม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92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Leelawadee UI"/>
                <a:cs typeface="Leelawadee UI"/>
              </a:rPr>
              <a:t>ส่งมอบรอบนี้: โปรแกรม CLI ที่รันได้จริง พร้อมชุดทดสอบที่พิสูจน์ข้อตกลง Definition of Done ครบทุกข้อ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ระบบค้นพบภาพยนตร์และสร้างรายการรับชม · CP352301 (1/2569)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Leelawadee UI"/>
                <a:cs typeface="Leelawadee UI"/>
              </a:rPr>
              <a:t>แผนงาน (Plan): คำสั่งของระบบ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98280" y="91440"/>
            <a:ext cx="258775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BFD1E8"/>
                </a:solidFill>
                <a:latin typeface="Leelawadee UI"/>
                <a:cs typeface="Leelawadee UI"/>
              </a:rPr>
              <a:t>Sprint 1 · 10 นาที</a:t>
            </a:r>
          </a:p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FB2D4"/>
                </a:solidFill>
                <a:latin typeface="Leelawadee UI"/>
                <a:cs typeface="Leelawadee UI"/>
              </a:rPr>
              <a:t>ผู้บรรยาย: Coder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80160"/>
          <a:ext cx="1115568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Leelawadee UI"/>
                          <a:cs typeface="Leelawadee UI"/>
                        </a:rPr>
                        <a:t>คำสั่ง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Leelawadee UI"/>
                          <a:cs typeface="Leelawadee UI"/>
                        </a:rPr>
                        <a:t>อินพุต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Leelawadee UI"/>
                          <a:cs typeface="Leelawadee UI"/>
                        </a:rPr>
                        <a:t>พฤติกรรมที่คาดหวัง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search &lt;ชื่อเรื่อง&gt;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ข้อความ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ค้นหาด้วยข้อมูลตัวอย่าง — ไม่พบ = แจ้งให้ทราบ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discover &lt;รหัส&gt;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จำนวนเต็ม &gt; 0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แสดงภาพยนตร์ที่คล้ายกัน เรียงตามคะแนนมาก → น้อย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watchlist add &lt;รหัส&gt;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จำนวนเต็ม &gt; 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เพิ่มเข้ารายการรับชม (ไม่เพิ่มซ้ำ)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watchlist list / clear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—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แสดง / ล้างรายการรับชม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help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—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แสดงคำสั่งทั้งหมด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quit / exit / q / ออก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—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ออกจากโปรแกรมทันที ไม่ว่าพิมพ์แบบใด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62356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Leelawadee UI"/>
                <a:cs typeface="Leelawadee UI"/>
              </a:rPr>
              <a:t>กำหนดสเปกทั้งหมดไว้ใน PLAN.md ก่อนเริ่มเขียนโค้ด (สเปกงานของ Planner ตามเอกสารรายวิชา)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ระบบค้นพบภาพยนตร์และสร้างรายการรับชม · CP352301 (1/2569)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  <a:cs typeface="Leelawadee UI"/>
              </a:rPr>
              <a:t>Definition of Done — ข้อตกลงความเสร็จ 7 ข้อ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98280" y="91440"/>
            <a:ext cx="258775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BFD1E8"/>
                </a:solidFill>
                <a:latin typeface="Leelawadee UI"/>
                <a:cs typeface="Leelawadee UI"/>
              </a:rPr>
              <a:t>Sprint 1 · 10 นาที</a:t>
            </a:r>
          </a:p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FB2D4"/>
                </a:solidFill>
                <a:latin typeface="Leelawadee UI"/>
                <a:cs typeface="Leelawadee UI"/>
              </a:rPr>
              <a:t>ผู้บรรยาย: 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700" b="0">
                <a:solidFill>
                  <a:srgbClr val="1A1A1A"/>
                </a:solidFill>
                <a:latin typeface="Leelawadee UI"/>
                <a:cs typeface="Leelawadee UI"/>
              </a:rPr>
              <a:t>1.   พิมพ์ quit / QUIT / มีช่องว่างรอบ → ออกทันทีพร้อมข้อความอำลา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700" b="0">
                <a:solidFill>
                  <a:srgbClr val="1A1A1A"/>
                </a:solidFill>
                <a:latin typeface="Leelawadee UI"/>
                <a:cs typeface="Leelawadee UI"/>
              </a:rPr>
              <a:t>2.   คำสั่งที่ไม่รู้จัก → แจ้งเตือนและกลับสู่เมนู ไม่หยุดทำงาน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700" b="0">
                <a:solidFill>
                  <a:srgbClr val="1A1A1A"/>
                </a:solidFill>
                <a:latin typeface="Leelawadee UI"/>
                <a:cs typeface="Leelawadee UI"/>
              </a:rPr>
              <a:t>3.   กด Enter โดยไม่พิมพ์อะไร → แจ้ง “กรุณาพิมพ์คำสั่ง”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700" b="0">
                <a:solidFill>
                  <a:srgbClr val="1A1A1A"/>
                </a:solidFill>
                <a:latin typeface="Leelawadee UI"/>
                <a:cs typeface="Leelawadee UI"/>
              </a:rPr>
              <a:t>4.   ป้อนรหัสที่ไม่ใช่ตัวเลข (เช่น abc) → แจ้งเตือน ไม่หยุดทำงาน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700" b="0">
                <a:solidFill>
                  <a:srgbClr val="1A1A1A"/>
                </a:solidFill>
                <a:latin typeface="Leelawadee UI"/>
                <a:cs typeface="Leelawadee UI"/>
              </a:rPr>
              <a:t>5.   ป้อนรหัสติดลบหรือศูนย์ (-3, 0) → ปฏิเสธพร้อมข้อความแจ้ง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700" b="0">
                <a:solidFill>
                  <a:srgbClr val="1A1A1A"/>
                </a:solidFill>
                <a:latin typeface="Leelawadee UI"/>
                <a:cs typeface="Leelawadee UI"/>
              </a:rPr>
              <a:t>6.   อินพุตสิ้นสุด (EOF) หรือกด Ctrl+C → ออกอย่างสุภาพ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700" b="0">
                <a:solidFill>
                  <a:srgbClr val="1A1A1A"/>
                </a:solidFill>
                <a:latin typeface="Leelawadee UI"/>
                <a:cs typeface="Leelawadee UI"/>
              </a:rPr>
              <a:t>7.   โค้ดผ่าน flake8 และทุกเมธอดมี docstring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Leelawadee UI"/>
                <a:cs typeface="Leelawadee UI"/>
              </a:rPr>
              <a:t>ผลการทดสอบจริงของทั้ง 7 ข้อ → อยู่ในสไลด์ QA Report ถัดไป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ระบบค้นพบภาพยนตร์และสร้างรายการรับชม · CP352301 (1/2569)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Leelawadee UI"/>
                <a:cs typeface="Leelawadee UI"/>
              </a:rPr>
              <a:t>การพัฒนา (Execution): โครงสร้างและจุดวิศวกรรม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98280" y="91440"/>
            <a:ext cx="258775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BFD1E8"/>
                </a:solidFill>
                <a:latin typeface="Leelawadee UI"/>
                <a:cs typeface="Leelawadee UI"/>
              </a:rPr>
              <a:t>Sprint 1 · 10 นาที</a:t>
            </a:r>
          </a:p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FB2D4"/>
                </a:solidFill>
                <a:latin typeface="Leelawadee UI"/>
                <a:cs typeface="Leelawadee UI"/>
              </a:rPr>
              <a:t>ผู้บรรยาย: Coder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07008"/>
            <a:ext cx="5212080" cy="4663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Leelawadee UI"/>
                <a:cs typeface="Leelawadee UI"/>
              </a:rPr>
              <a:t>โครงสร้างที่ส่งมอบ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350" b="1">
                <a:solidFill>
                  <a:srgbClr val="1A1A1A"/>
                </a:solidFill>
                <a:latin typeface="Leelawadee UI"/>
                <a:cs typeface="Leelawadee UI"/>
              </a:rPr>
              <a:t>sprint1/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Leelawadee UI"/>
                <a:cs typeface="Leelawadee UI"/>
              </a:rPr>
              <a:t>•  Sprint1_MovieDiscovery.ipynb — รายงาน Sprint 1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Leelawadee UI"/>
                <a:cs typeface="Leelawadee UI"/>
              </a:rPr>
              <a:t>•  script-final-project/ — โค้ดทั้งหมด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Leelawadee UI"/>
                <a:cs typeface="Leelawadee UI"/>
              </a:rPr>
              <a:t>–  PLAN.md · setup.cfg · requirements.txt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Leelawadee UI"/>
                <a:cs typeface="Leelawadee UI"/>
              </a:rPr>
              <a:t>–  src/ : app.py · cli.py · sample_data.py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0">
                <a:solidFill>
                  <a:srgbClr val="595959"/>
                </a:solidFill>
                <a:latin typeface="Leelawadee UI"/>
                <a:cs typeface="Leelawadee UI"/>
              </a:rPr>
              <a:t>–  tests/ : conftest.py · test_cli.py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00" b="0">
                <a:solidFill>
                  <a:srgbClr val="595959"/>
                </a:solidFill>
                <a:latin typeface="Leelawadee UI"/>
                <a:cs typeface="Leelawadee UI"/>
              </a:rPr>
              <a:t>โมดูลฐานสำหรับ Sprint 2 เตรียมไว้แล้วใน src/: tmdb_client · movie_store · discovery · watchlist · exporter (พร้อมชุดทดสอบ)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207008"/>
            <a:ext cx="5806440" cy="4663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Leelawadee UI"/>
                <a:cs typeface="Leelawadee UI"/>
              </a:rPr>
              <a:t>จุดวิศวกรรมสำคัญ (Execution Highlights)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50" b="0">
                <a:solidFill>
                  <a:srgbClr val="1A1A1A"/>
                </a:solidFill>
                <a:latin typeface="Leelawadee UI"/>
                <a:cs typeface="Leelawadee UI"/>
              </a:rPr>
              <a:t>•  แยก CLI เป็นคลาส + ฉีดอินพุต/เอาต์พุตผ่านพารามิเตอร์ → ทดสอบได้โดยไม่ต้องใช้ terminal จริง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50" b="0">
                <a:solidFill>
                  <a:srgbClr val="1A1A1A"/>
                </a:solidFill>
                <a:latin typeface="Leelawadee UI"/>
                <a:cs typeface="Leelawadee UI"/>
              </a:rPr>
              <a:t>•  .strip().lower() ทุกคำสั่ง → พิมพ์เล็ก/ใหญ่ หรือมีช่องว่าง ก็ไม่ทำให้พัง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50" b="0">
                <a:solidFill>
                  <a:srgbClr val="1A1A1A"/>
                </a:solidFill>
                <a:latin typeface="Leelawadee UI"/>
                <a:cs typeface="Leelawadee UI"/>
              </a:rPr>
              <a:t>•  try / except ครอบคลุม ValueError · EOFError · KeyboardInterrupt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50" b="0">
                <a:solidFill>
                  <a:srgbClr val="1A1A1A"/>
                </a:solidFill>
                <a:latin typeface="Leelawadee UI"/>
                <a:cs typeface="Leelawadee UI"/>
              </a:rPr>
              <a:t>•  while loop + dict dispatch — เพิ่มคำสั่งใหม่แก้ที่จุดเดียว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50" b="0">
                <a:solidFill>
                  <a:srgbClr val="1A1A1A"/>
                </a:solidFill>
                <a:latin typeface="Leelawadee UI"/>
                <a:cs typeface="Leelawadee UI"/>
              </a:rPr>
              <a:t>•  Docstring ครบทุกเมธอด — flake8 ผ่านสะอาด (PEP 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ระบบค้นพบภาพยนตร์และสร้างรายการรับชม · CP352301 (1/2569)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Leelawadee UI"/>
                <a:cs typeface="Leelawadee UI"/>
              </a:rPr>
              <a:t>สาธิตการทำงาน (Live Demo)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98280" y="91440"/>
            <a:ext cx="258775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BFD1E8"/>
                </a:solidFill>
                <a:latin typeface="Leelawadee UI"/>
                <a:cs typeface="Leelawadee UI"/>
              </a:rPr>
              <a:t>Sprint 1 · 10 นาที</a:t>
            </a:r>
          </a:p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FB2D4"/>
                </a:solidFill>
                <a:latin typeface="Leelawadee UI"/>
                <a:cs typeface="Leelawadee UI"/>
              </a:rPr>
              <a:t>ผู้บรรยาย: 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1F3864"/>
                </a:solidFill>
                <a:latin typeface="Leelawadee UI"/>
                <a:cs typeface="Leelawadee UI"/>
              </a:rPr>
              <a:t>รัน: python -m src.app   (Sprint 1 สาธิตด้วยข้อมูลตัวอย่าง 5 เรื่องที่ฝังในโปรแกรม)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36192"/>
            <a:ext cx="10652760" cy="4160520"/>
          </a:xfrm>
          <a:prstGeom prst="roundRect">
            <a:avLst>
              <a:gd name="adj" fmla="val 6000"/>
            </a:avLst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28016" rIns="274320" bIns="128016" rtlCol="0" anchor="t"/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BFD1E8"/>
                </a:solidFill>
                <a:latin typeface="Leelawadee UI"/>
                <a:cs typeface="Leelawadee UI"/>
              </a:rPr>
              <a:t>=======================================================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BFD1E8"/>
                </a:solidFill>
                <a:latin typeface="Leelawadee UI"/>
                <a:cs typeface="Leelawadee UI"/>
              </a:rPr>
              <a:t>  Movie Discovery &amp; Watchlist Builder — CLI (Sprint 1)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BFD1E8"/>
                </a:solidFill>
                <a:latin typeface="Leelawadee UI"/>
                <a:cs typeface="Leelawadee UI"/>
              </a:rPr>
              <a:t>  ระบบค้นพบภาพยนตร์และสร้างรายการรับชม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BFD1E8"/>
                </a:solidFill>
                <a:latin typeface="Leelawadee UI"/>
                <a:cs typeface="Leelawadee UI"/>
              </a:rPr>
              <a:t>=======================================================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Leelawadee UI"/>
                <a:cs typeface="Leelawadee UI"/>
              </a:rPr>
              <a:t>movie&gt; search alpha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D8D8DC"/>
                </a:solidFill>
                <a:latin typeface="Leelawadee UI"/>
                <a:cs typeface="Leelawadee UI"/>
              </a:rPr>
              <a:t>พบ 1 เรื่อง:  [101] Alpha Signal (2010) คะแนน 7.8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Leelawadee UI"/>
                <a:cs typeface="Leelawadee UI"/>
              </a:rPr>
              <a:t>movie&gt; discover 103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D8D8DC"/>
                </a:solidFill>
                <a:latin typeface="Leelawadee UI"/>
                <a:cs typeface="Leelawadee UI"/>
              </a:rPr>
              <a:t>ภาพยนตร์ที่คล้ายกับ 'Cobalt Night' (เรียงตามคะแนน):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D8D8DC"/>
                </a:solidFill>
                <a:latin typeface="Leelawadee UI"/>
                <a:cs typeface="Leelawadee UI"/>
              </a:rPr>
              <a:t>  1. [105] Emerald Run (2021) 8.0      2. [101] Alpha Signal (2010) 7.8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D8D8DC"/>
                </a:solidFill>
                <a:latin typeface="Leelawadee UI"/>
                <a:cs typeface="Leelawadee UI"/>
              </a:rPr>
              <a:t>  3. [102] Bravo Horizon (2014) 6.1   4. [104] Delta Echo (----) 5.0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Leelawadee UI"/>
                <a:cs typeface="Leelawadee UI"/>
              </a:rPr>
              <a:t>movie&gt; watchlist add 101 → เพิ่ม 'Alpha Signal' เข้ารายการรับชมแล้ว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Leelawadee UI"/>
                <a:cs typeface="Leelawadee UI"/>
              </a:rPr>
              <a:t>movie&gt; watchlist list → รายการรับชม (1 เรื่อง): [101] Alpha Signal 7.8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Leelawadee UI"/>
                <a:cs typeface="Leelawadee UI"/>
              </a:rPr>
              <a:t>movie&gt; quit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D8D8DC"/>
                </a:solidFill>
                <a:latin typeface="Leelawadee UI"/>
                <a:cs typeface="Leelawadee UI"/>
              </a:rPr>
              <a:t>ขอบคุณที่ใช้งานโปรแกรม ลาก่อน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52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Leelawadee UI"/>
                <a:cs typeface="Leelawadee UI"/>
              </a:rPr>
              <a:t>รันชุดทดสอบด้วย: python -m pytest -q  (จำลองอินพุตทั้งหมด — ไม่ต้องใช้ terminal จริง)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ระบบค้นพบภาพยนตร์และสร้างรายการรับชม · CP352301 (1/2569)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Leelawadee UI"/>
                <a:cs typeface="Leelawadee UI"/>
              </a:rPr>
              <a:t>ชุดทดสอบอัตโนมัติ — โครงสร้าง 40 เคส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98280" y="91440"/>
            <a:ext cx="258775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BFD1E8"/>
                </a:solidFill>
                <a:latin typeface="Leelawadee UI"/>
                <a:cs typeface="Leelawadee UI"/>
              </a:rPr>
              <a:t>Sprint 1 · 10 นาที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33832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48316"/>
            <a:ext cx="3017520" cy="943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4000" b="1" dirty="0">
                <a:solidFill>
                  <a:srgbClr val="1F3864"/>
                </a:solidFill>
                <a:latin typeface="Leelawadee UI"/>
                <a:cs typeface="Leelawadee UI"/>
              </a:rPr>
              <a:t>40/40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 dirty="0" err="1">
                <a:solidFill>
                  <a:srgbClr val="595959"/>
                </a:solidFill>
                <a:latin typeface="Leelawadee UI"/>
                <a:cs typeface="Leelawadee UI"/>
              </a:rPr>
              <a:t>เคสผ่านทั้งหมด</a:t>
            </a:r>
            <a:endParaRPr sz="1300" b="0" dirty="0">
              <a:solidFill>
                <a:srgbClr val="595959"/>
              </a:solidFill>
              <a:latin typeface="Leelawadee UI"/>
              <a:cs typeface="Leelawadee U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160520" y="1188720"/>
            <a:ext cx="33832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43400" y="1353312"/>
            <a:ext cx="3017520" cy="11338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4000" b="1">
                <a:solidFill>
                  <a:srgbClr val="1F3864"/>
                </a:solidFill>
                <a:latin typeface="Leelawadee UI"/>
                <a:cs typeface="Leelawadee UI"/>
              </a:rPr>
              <a:t>4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Leelawadee UI"/>
                <a:cs typeface="Leelawadee UI"/>
              </a:rPr>
              <a:t>ไฟล์ทดสอบ แยกตามโมดูล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188720"/>
            <a:ext cx="39319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0" y="1353312"/>
            <a:ext cx="3566160" cy="11338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4000" b="1" dirty="0">
                <a:solidFill>
                  <a:srgbClr val="1F3864"/>
                </a:solidFill>
                <a:latin typeface="Leelawadee UI"/>
                <a:cs typeface="Leelawadee UI"/>
              </a:rPr>
              <a:t>0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 dirty="0" err="1">
                <a:solidFill>
                  <a:srgbClr val="595959"/>
                </a:solidFill>
                <a:latin typeface="Leelawadee UI"/>
                <a:cs typeface="Leelawadee UI"/>
              </a:rPr>
              <a:t>การพึ่งพาภายนอก</a:t>
            </a:r>
            <a:r>
              <a:rPr sz="1300" b="0" dirty="0">
                <a:solidFill>
                  <a:srgbClr val="595959"/>
                </a:solidFill>
                <a:latin typeface="Leelawadee UI"/>
                <a:cs typeface="Leelawadee UI"/>
              </a:rPr>
              <a:t> — </a:t>
            </a:r>
            <a:r>
              <a:rPr sz="1300" b="0" dirty="0" err="1">
                <a:solidFill>
                  <a:srgbClr val="595959"/>
                </a:solidFill>
                <a:latin typeface="Leelawadee UI"/>
                <a:cs typeface="Leelawadee UI"/>
              </a:rPr>
              <a:t>ไม่ต่อเน็ต</a:t>
            </a:r>
            <a:r>
              <a:rPr sz="1300" b="0" dirty="0">
                <a:solidFill>
                  <a:srgbClr val="595959"/>
                </a:solidFill>
                <a:latin typeface="Leelawadee UI"/>
                <a:cs typeface="Leelawadee UI"/>
              </a:rPr>
              <a:t> / </a:t>
            </a:r>
            <a:r>
              <a:rPr sz="1300" b="0" dirty="0" err="1">
                <a:solidFill>
                  <a:srgbClr val="595959"/>
                </a:solidFill>
                <a:latin typeface="Leelawadee UI"/>
                <a:cs typeface="Leelawadee UI"/>
              </a:rPr>
              <a:t>ไม่ใช้</a:t>
            </a:r>
            <a:r>
              <a:rPr sz="1300" b="0" dirty="0">
                <a:solidFill>
                  <a:srgbClr val="595959"/>
                </a:solidFill>
                <a:latin typeface="Leelawadee UI"/>
                <a:cs typeface="Leelawadee UI"/>
              </a:rPr>
              <a:t> terminal </a:t>
            </a:r>
            <a:r>
              <a:rPr sz="1300" b="0" dirty="0" err="1">
                <a:solidFill>
                  <a:srgbClr val="595959"/>
                </a:solidFill>
                <a:latin typeface="Leelawadee UI"/>
                <a:cs typeface="Leelawadee UI"/>
              </a:rPr>
              <a:t>จริง</a:t>
            </a:r>
            <a:endParaRPr sz="1300" b="0" dirty="0">
              <a:solidFill>
                <a:srgbClr val="595959"/>
              </a:solidFill>
              <a:latin typeface="Leelawadee UI"/>
              <a:cs typeface="Leelawadee UI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880360"/>
          <a:ext cx="685800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  <a:cs typeface="Leelawadee UI"/>
                        </a:rPr>
                        <a:t>ไฟล์ทดสอบ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  <a:cs typeface="Leelawadee UI"/>
                        </a:rPr>
                        <a:t>เคส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  <a:cs typeface="Leelawadee UI"/>
                        </a:rPr>
                        <a:t>ครอบคลุมอะไร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test_cli.py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20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ทุกข้อ Definition of Done + คำสั่งหลัก search · discover · watchlist · help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test_discovery_flow.py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7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โฟลว์ครบเส้น: กรองคะแนน/ปี · จัดอันดับ · กันซ้ำ · สร้าง watchlist · export CSV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test_movie_store.py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ชั้น SQLite: บันทึก/อ่าน/อัปเดตหนัง · ลิงก์ similar · watchlist · สร้างโฟลเดอร์ให้เอง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test_tmdb_client.py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7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ไคลเอนต์ TMDB (จำลองเน็ต): พารามิเตอร์ที่ส่ง · แปลง JSON · ข้อผิดพลาด 401/404/429/เน็ตหลุด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635240" y="2880360"/>
            <a:ext cx="4050791" cy="28803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  <a:latin typeface="Leelawadee UI"/>
                <a:cs typeface="Leelawadee UI"/>
              </a:rPr>
              <a:t>หลักการออกแบบชุดทดสอบ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•  conftest.py — ตั้งค่า import path ให้รันได้จากคำสั่งเดียว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•  fakes.py — test double: FakeTmdbClient จำลอง API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•  ฉีดอินพุต/เอาต์พุตเข้า CLI — ไม่ต้องใช้ terminal จริง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•  จำลองเน็ตเวิร์ก (mock) — ทดสอบ error ครบ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•  parametrize — 1 ฟังก์ชัน ทดสอบหลายเคส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1">
                <a:solidFill>
                  <a:srgbClr val="1F3864"/>
                </a:solidFill>
                <a:latin typeface="Leelawadee UI"/>
                <a:cs typeface="Leelawadee UI"/>
              </a:rPr>
              <a:t>•  รันทั้งหมด: python -m pytest -q → 40 passed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Leelawadee UI"/>
                <a:cs typeface="Leelawadee UI"/>
              </a:rPr>
              <a:t>ผลการทดสอบกรณีขอบเขต (QA Report)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98280" y="91440"/>
            <a:ext cx="258775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BFD1E8"/>
                </a:solidFill>
                <a:latin typeface="Leelawadee UI"/>
                <a:cs typeface="Leelawadee UI"/>
              </a:rPr>
              <a:t>Sprint 1 · 10 นาที</a:t>
            </a:r>
          </a:p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FB2D4"/>
                </a:solidFill>
                <a:latin typeface="Leelawadee UI"/>
                <a:cs typeface="Leelawadee UI"/>
              </a:rPr>
              <a:t>ผู้บรรยาย: Debugger · QA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07008"/>
          <a:ext cx="11155680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Leelawadee UI"/>
                          <a:cs typeface="Leelawadee UI"/>
                        </a:rPr>
                        <a:t>รายการทดสอบ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Leelawadee UI"/>
                          <a:cs typeface="Leelawadee UI"/>
                        </a:rPr>
                        <a:t>อินพุต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Leelawadee UI"/>
                          <a:cs typeface="Leelawadee UI"/>
                        </a:rPr>
                        <a:t>ผลการทดสอบจริง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Leelawadee UI"/>
                          <a:cs typeface="Leelawadee UI"/>
                        </a:rPr>
                        <a:t>สถานะ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ออกจากโปรแกรม (ตัวพิมพ์ใหญ่)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QUIT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กล่าวอำลา + ออกจากลูปทันที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7B34"/>
                          </a:solidFill>
                          <a:latin typeface="Leelawadee UI"/>
                          <a:cs typeface="Leelawadee UI"/>
                        </a:rPr>
                        <a:t>PASSED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ออกโดยมีช่องว่างหน้า-หลัง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"   Quit   "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ตัดช่องว่างแล้วออกตามปกติ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7B34"/>
                          </a:solidFill>
                          <a:latin typeface="Leelawadee UI"/>
                          <a:cs typeface="Leelawadee UI"/>
                        </a:rPr>
                        <a:t>PASSED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คำสั่งที่ไม่รู้จัก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asdf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แจ้งเตือนว่าไม่รู้จักคำสั่ง + กลับสู่เมนู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7B34"/>
                          </a:solidFill>
                          <a:latin typeface="Leelawadee UI"/>
                          <a:cs typeface="Leelawadee UI"/>
                        </a:rPr>
                        <a:t>PASSED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กด Enter โดยไม่พิมพ์อะไร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(บรรทัดว่าง)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แจ้ง “กรุณาพิมพ์คำสั่ง”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7B34"/>
                          </a:solidFill>
                          <a:latin typeface="Leelawadee UI"/>
                          <a:cs typeface="Leelawadee UI"/>
                        </a:rPr>
                        <a:t>PASSED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รหัสไม่ใช่ตัวเลข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discover abc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แจ้ง “ต้องเป็นตัวเลข” ไม่หยุดทำงาน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7B34"/>
                          </a:solidFill>
                          <a:latin typeface="Leelawadee UI"/>
                          <a:cs typeface="Leelawadee UI"/>
                        </a:rPr>
                        <a:t>PASSED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รหัสติดลบ / ศูนย์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discover -3 / 0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แจ้ง “ต้องมากกว่า 0”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7B34"/>
                          </a:solidFill>
                          <a:latin typeface="Leelawadee UI"/>
                          <a:cs typeface="Leelawadee UI"/>
                        </a:rPr>
                        <a:t>PASSED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การค้นหาตามปกติ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search alpha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พบ 1 เรื่อง: Alpha Signal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7B34"/>
                          </a:solidFill>
                          <a:latin typeface="Leelawadee UI"/>
                          <a:cs typeface="Leelawadee UI"/>
                        </a:rPr>
                        <a:t>PASSED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เพิ่มภาพยนตร์ซ้ำ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watchlist add 101 ×2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ครั้งที่สองแจ้ง “อยู่ในรายการแล้ว”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7B34"/>
                          </a:solidFill>
                          <a:latin typeface="Leelawadee UI"/>
                          <a:cs typeface="Leelawadee UI"/>
                        </a:rPr>
                        <a:t>PASSED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อินพุตสิ้นสุด (EOF)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EOF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“[สิ้นสุดอินพุต]” + กล่าวอำลาสุภาพ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7B34"/>
                          </a:solidFill>
                          <a:latin typeface="Leelawadee UI"/>
                          <a:cs typeface="Leelawadee UI"/>
                        </a:rPr>
                        <a:t>PASSED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34924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Leelawadee UI"/>
                <a:cs typeface="Leelawadee UI"/>
              </a:rPr>
              <a:t>ทดสอบซ้ำได้ทั้งหมดด้วยชุดทดสอบอัตโนมัติ 20 เคส (อยู่ในรายงาน Sprint 1) และจำลองเซสชันการใช้งานจริง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ระบบค้นพบภาพยนตร์และสร้างรายการรับชม · CP352301 (1/2569)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12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Leelawadee UI"/>
                <a:cs typeface="Leelawadee UI"/>
              </a:rPr>
              <a:t>สรุปบทเรียน: Wow! &amp; Whoops!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98280" y="91440"/>
            <a:ext cx="258775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BFD1E8"/>
                </a:solidFill>
                <a:latin typeface="Leelawadee UI"/>
                <a:cs typeface="Leelawadee UI"/>
              </a:rPr>
              <a:t>Sprint 1 · 10 นาที</a:t>
            </a:r>
          </a:p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FB2D4"/>
                </a:solidFill>
                <a:latin typeface="Leelawadee UI"/>
                <a:cs typeface="Leelawadee UI"/>
              </a:rPr>
              <a:t>ผู้บรรยาย: Debugger · QA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486400" cy="3429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600" b="1" dirty="0">
                <a:solidFill>
                  <a:srgbClr val="1E7B34"/>
                </a:solidFill>
                <a:latin typeface="Leelawadee UI"/>
                <a:cs typeface="Leelawadee UI"/>
              </a:rPr>
              <a:t>Wow! (</a:t>
            </a:r>
            <a:r>
              <a:rPr sz="1600" b="1" dirty="0" err="1">
                <a:solidFill>
                  <a:srgbClr val="1E7B34"/>
                </a:solidFill>
                <a:latin typeface="Leelawadee UI"/>
                <a:cs typeface="Leelawadee UI"/>
              </a:rPr>
              <a:t>ส่วนที่ทำได้ดี</a:t>
            </a:r>
            <a:r>
              <a:rPr sz="1600" b="1" dirty="0">
                <a:solidFill>
                  <a:srgbClr val="1E7B34"/>
                </a:solidFill>
                <a:latin typeface="Leelawadee UI"/>
                <a:cs typeface="Leelawadee UI"/>
              </a:rPr>
              <a:t>)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50" b="0" dirty="0">
                <a:solidFill>
                  <a:srgbClr val="1A1A1A"/>
                </a:solidFill>
                <a:latin typeface="Leelawadee UI"/>
                <a:cs typeface="Leelawadee UI"/>
              </a:rPr>
              <a:t>•  </a:t>
            </a:r>
            <a:r>
              <a:rPr sz="1450" b="0" dirty="0" err="1">
                <a:solidFill>
                  <a:srgbClr val="1A1A1A"/>
                </a:solidFill>
                <a:latin typeface="Leelawadee UI"/>
                <a:cs typeface="Leelawadee UI"/>
              </a:rPr>
              <a:t>แยกส่วนติดต่อผู้ใช้</a:t>
            </a:r>
            <a:r>
              <a:rPr sz="1450" b="0" dirty="0">
                <a:solidFill>
                  <a:srgbClr val="1A1A1A"/>
                </a:solidFill>
                <a:latin typeface="Leelawadee UI"/>
                <a:cs typeface="Leelawadee UI"/>
              </a:rPr>
              <a:t> (CLI) </a:t>
            </a:r>
            <a:r>
              <a:rPr sz="1450" b="0" dirty="0" err="1">
                <a:solidFill>
                  <a:srgbClr val="1A1A1A"/>
                </a:solidFill>
                <a:latin typeface="Leelawadee UI"/>
                <a:cs typeface="Leelawadee UI"/>
              </a:rPr>
              <a:t>ออกจากส่วนอื่นอย่างชัดเจน</a:t>
            </a:r>
            <a:r>
              <a:rPr sz="1450" b="0" dirty="0">
                <a:solidFill>
                  <a:srgbClr val="1A1A1A"/>
                </a:solidFill>
                <a:latin typeface="Leelawadee UI"/>
                <a:cs typeface="Leelawadee UI"/>
              </a:rPr>
              <a:t> → </a:t>
            </a:r>
            <a:r>
              <a:rPr sz="1450" b="0" dirty="0" err="1">
                <a:solidFill>
                  <a:srgbClr val="1A1A1A"/>
                </a:solidFill>
                <a:latin typeface="Leelawadee UI"/>
                <a:cs typeface="Leelawadee UI"/>
              </a:rPr>
              <a:t>อ่านและทดสอบได้ง่าย</a:t>
            </a:r>
            <a:endParaRPr sz="1450" b="0" dirty="0">
              <a:solidFill>
                <a:srgbClr val="1A1A1A"/>
              </a:solidFill>
              <a:latin typeface="Leelawadee UI"/>
              <a:cs typeface="Leelawadee UI"/>
            </a:endParaRP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50" b="0" dirty="0">
                <a:solidFill>
                  <a:srgbClr val="1A1A1A"/>
                </a:solidFill>
                <a:latin typeface="Leelawadee UI"/>
                <a:cs typeface="Leelawadee UI"/>
              </a:rPr>
              <a:t>•  </a:t>
            </a:r>
            <a:r>
              <a:rPr sz="1450" b="0" dirty="0" err="1">
                <a:solidFill>
                  <a:srgbClr val="1A1A1A"/>
                </a:solidFill>
                <a:latin typeface="Leelawadee UI"/>
                <a:cs typeface="Leelawadee UI"/>
              </a:rPr>
              <a:t>การตรวจสอบอินพุตครอบคลุมทุกกรณีที่กำหนดไว้ใน</a:t>
            </a:r>
            <a:r>
              <a:rPr sz="1450" b="0" dirty="0">
                <a:solidFill>
                  <a:srgbClr val="1A1A1A"/>
                </a:solidFill>
                <a:latin typeface="Leelawadee UI"/>
                <a:cs typeface="Leelawadee UI"/>
              </a:rPr>
              <a:t> Definition of Done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50" b="0" dirty="0">
                <a:solidFill>
                  <a:srgbClr val="1A1A1A"/>
                </a:solidFill>
                <a:latin typeface="Leelawadee UI"/>
                <a:cs typeface="Leelawadee UI"/>
              </a:rPr>
              <a:t>•  </a:t>
            </a:r>
            <a:r>
              <a:rPr sz="1450" b="0" dirty="0" err="1">
                <a:solidFill>
                  <a:srgbClr val="1A1A1A"/>
                </a:solidFill>
                <a:latin typeface="Leelawadee UI"/>
                <a:cs typeface="Leelawadee UI"/>
              </a:rPr>
              <a:t>ชุดทดสอบ</a:t>
            </a:r>
            <a:r>
              <a:rPr sz="1450" b="0" dirty="0">
                <a:solidFill>
                  <a:srgbClr val="1A1A1A"/>
                </a:solidFill>
                <a:latin typeface="Leelawadee UI"/>
                <a:cs typeface="Leelawadee UI"/>
              </a:rPr>
              <a:t> </a:t>
            </a:r>
            <a:r>
              <a:rPr lang="th-TH" sz="1450" b="0" dirty="0">
                <a:solidFill>
                  <a:srgbClr val="1A1A1A"/>
                </a:solidFill>
                <a:latin typeface="Leelawadee UI"/>
                <a:cs typeface="Leelawadee UI"/>
              </a:rPr>
              <a:t>4</a:t>
            </a:r>
            <a:r>
              <a:rPr sz="1450" b="0" dirty="0">
                <a:solidFill>
                  <a:srgbClr val="1A1A1A"/>
                </a:solidFill>
                <a:latin typeface="Leelawadee UI"/>
                <a:cs typeface="Leelawadee UI"/>
              </a:rPr>
              <a:t>0 </a:t>
            </a:r>
            <a:r>
              <a:rPr sz="1450" b="0" dirty="0" err="1">
                <a:solidFill>
                  <a:srgbClr val="1A1A1A"/>
                </a:solidFill>
                <a:latin typeface="Leelawadee UI"/>
                <a:cs typeface="Leelawadee UI"/>
              </a:rPr>
              <a:t>เคสจำลองอินพุตได้จริง</a:t>
            </a:r>
            <a:r>
              <a:rPr sz="1450" b="0" dirty="0">
                <a:solidFill>
                  <a:srgbClr val="1A1A1A"/>
                </a:solidFill>
                <a:latin typeface="Leelawadee UI"/>
                <a:cs typeface="Leelawadee UI"/>
              </a:rPr>
              <a:t> — </a:t>
            </a:r>
            <a:r>
              <a:rPr sz="1450" b="0" dirty="0" err="1">
                <a:solidFill>
                  <a:srgbClr val="1A1A1A"/>
                </a:solidFill>
                <a:latin typeface="Leelawadee UI"/>
                <a:cs typeface="Leelawadee UI"/>
              </a:rPr>
              <a:t>พิสูจน์ซ้ำได้ด้วยคำสั่งเดียว</a:t>
            </a:r>
            <a:endParaRPr sz="1450" b="0" dirty="0">
              <a:solidFill>
                <a:srgbClr val="1A1A1A"/>
              </a:solidFill>
              <a:latin typeface="Leelawadee UI"/>
              <a:cs typeface="Leelawadee U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486400" cy="3429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600" b="1">
                <a:solidFill>
                  <a:srgbClr val="B00000"/>
                </a:solidFill>
                <a:latin typeface="Leelawadee UI"/>
                <a:cs typeface="Leelawadee UI"/>
              </a:rPr>
              <a:t>Whoops! (ปัญหาและแนวทางแก้ไข)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50" b="0">
                <a:solidFill>
                  <a:srgbClr val="1A1A1A"/>
                </a:solidFill>
                <a:latin typeface="Leelawadee UI"/>
                <a:cs typeface="Leelawadee UI"/>
              </a:rPr>
              <a:t>•  เดิมออกแบบเป็นคำสั่งแบบครั้งเดียว (argparse) — Sprint 1 ต้องการเมนูโต้ตอบพร้อมตรวจสอบอินพุต → รีแฟกเตอร์เป็นคลาส CLI ใหม่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50" b="0">
                <a:solidFill>
                  <a:srgbClr val="1A1A1A"/>
                </a:solidFill>
                <a:latin typeface="Leelawadee UI"/>
                <a:cs typeface="Leelawadee UI"/>
              </a:rPr>
              <a:t>•  รายการรับชมยังเก็บในหน่วยความจำชั่วคราว (ปิดโปรแกรมแล้วหาย) → วางแผนเก็บลงฐานข้อมูล SQLite ใน Sprint ถัดไป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ระบบค้นพบภาพยนตร์และสร้างรายการรับชม · CP352301 (1/2569)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Leelawadee UI"/>
                <a:cs typeface="Leelawadee UI"/>
              </a:rPr>
              <a:t>ก้าวต่อไป (Next Steps)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98280" y="91440"/>
            <a:ext cx="258775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BFD1E8"/>
                </a:solidFill>
                <a:latin typeface="Leelawadee UI"/>
                <a:cs typeface="Leelawadee UI"/>
              </a:rPr>
              <a:t>Sprint 1 · 10 นาที</a:t>
            </a:r>
          </a:p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9FB2D4"/>
                </a:solidFill>
                <a:latin typeface="Leelawadee UI"/>
                <a:cs typeface="Leelawadee UI"/>
              </a:rPr>
              <a:t>ผู้บรรยาย: Debugger · QA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bIns="128016" rtlCol="0" anchor="t"/>
          <a:lstStyle/>
          <a:p>
            <a:pPr algn="ctr">
              <a:lnSpc>
                <a:spcPct val="122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Leelawadee UI"/>
                <a:cs typeface="Leelawadee UI"/>
              </a:rPr>
              <a:t>Sprint 1 ✓</a:t>
            </a:r>
          </a:p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BFD1E8"/>
                </a:solidFill>
                <a:latin typeface="Leelawadee UI"/>
                <a:cs typeface="Leelawadee UI"/>
              </a:rPr>
              <a:t>Front-End CLI (รอบนี้)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9544" y="1700784"/>
            <a:ext cx="118872" cy="256032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337560" y="123444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bIns="128016" rtlCol="0" anchor="t"/>
          <a:lstStyle/>
          <a:p>
            <a:pPr algn="ctr">
              <a:lnSpc>
                <a:spcPct val="122000"/>
              </a:lnSpc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Leelawadee UI"/>
                <a:cs typeface="Leelawadee UI"/>
              </a:rPr>
              <a:t>Sprint 2</a:t>
            </a:r>
          </a:p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595959"/>
                </a:solidFill>
                <a:latin typeface="Leelawadee UI"/>
                <a:cs typeface="Leelawadee UI"/>
              </a:rPr>
              <a:t>Back-End: TMDB จริง · SQLite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44184" y="1700784"/>
            <a:ext cx="118872" cy="256032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bIns="128016" rtlCol="0" anchor="t"/>
          <a:lstStyle/>
          <a:p>
            <a:pPr algn="ctr">
              <a:lnSpc>
                <a:spcPct val="122000"/>
              </a:lnSpc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Leelawadee UI"/>
                <a:cs typeface="Leelawadee UI"/>
              </a:rPr>
              <a:t>Sprint 3</a:t>
            </a:r>
          </a:p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595959"/>
                </a:solidFill>
                <a:latin typeface="Leelawadee UI"/>
                <a:cs typeface="Leelawadee UI"/>
              </a:rPr>
              <a:t>Full-Stack: เชื่อมระบบ + edge cases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78824" y="1700784"/>
            <a:ext cx="118872" cy="256032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006840" y="123444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bIns="128016" rtlCol="0" anchor="t"/>
          <a:lstStyle/>
          <a:p>
            <a:pPr algn="ctr">
              <a:lnSpc>
                <a:spcPct val="122000"/>
              </a:lnSpc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Leelawadee UI"/>
                <a:cs typeface="Leelawadee UI"/>
              </a:rPr>
              <a:t>Final</a:t>
            </a:r>
          </a:p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595959"/>
                </a:solidFill>
                <a:latin typeface="Leelawadee UI"/>
                <a:cs typeface="Leelawadee UI"/>
              </a:rPr>
              <a:t>DevOps · CI/CD · AI + เอกสารครบชุด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4203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95959"/>
                </a:solidFill>
                <a:latin typeface="Leelawadee UI"/>
                <a:cs typeface="Leelawadee UI"/>
              </a:rPr>
              <a:t>วันที่: นำเสนอ 15–16/9 · 22–23/9 · 29–30/9 · 6–7/10/69  |  ส่งงาน 18/9 · 25/9 · 2/10 · 16/10/69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71800"/>
            <a:ext cx="11247120" cy="26060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Leelawadee UI"/>
                <a:cs typeface="Leelawadee UI"/>
              </a:rPr>
              <a:t>Sprint 2 (ถัดไป — นำเสนอ 22–23/9): Back-End App Dev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Leelawadee UI"/>
                <a:cs typeface="Leelawadee UI"/>
              </a:rPr>
              <a:t>•  เชื่อมต่อ TMDB API จริง — จัดการข้อผิดพลาดและแคชผลลัพธ์ (api_cache)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Leelawadee UI"/>
                <a:cs typeface="Leelawadee UI"/>
              </a:rPr>
              <a:t>•  ฐานข้อมูล SQLite 6 ตาราง — movies · similar_links · watchlist · favorites · searches · api_cache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Leelawadee UI"/>
                <a:cs typeface="Leelawadee UI"/>
              </a:rPr>
              <a:t>•  ฟังก์ชันค้นหา / กรอง / เรียงลำดับ + การจัดการ File I/O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Leelawadee UI"/>
                <a:cs typeface="Leelawadee UI"/>
              </a:rPr>
              <a:t>•  เทสต์ด้วย Mock API ต่อยอด CI เดิมให้เขียวต่อเนื่อง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064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  <a:latin typeface="Leelawadee UI"/>
                <a:cs typeface="Leelawadee UI"/>
              </a:rPr>
              <a:t>Repo: https://github.com/somjung/Movie-Discovery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ระบบค้นพบภาพยนตร์และสร้างรายการรับชม · CP352301 (1/2569)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Leelawadee UI"/>
                <a:cs typeface="Leelawadee U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Leelawadee UI"/>
                <a:cs typeface="Leelawadee UI"/>
              </a:rPr>
              <a:t>ขอบคุณครับ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8036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BFD1E8"/>
                </a:solidFill>
                <a:latin typeface="Leelawadee UI"/>
                <a:cs typeface="Leelawadee UI"/>
              </a:rPr>
              <a:t>คำถาม &amp; ข้อเสนอแนะ (Q&amp;A)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77639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BFD1E8"/>
                </a:solidFill>
                <a:latin typeface="Leelawadee UI"/>
                <a:cs typeface="Leelawadee UI"/>
              </a:rPr>
              <a:t>ระบบค้นพบภาพยนตร์และสร้างรายการรับชม · CP352301 (1/2569)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434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BFD1E8"/>
                </a:solidFill>
                <a:latin typeface="Leelawadee UI"/>
                <a:cs typeface="Leelawadee UI"/>
              </a:rPr>
              <a:t>Planner / Team Leader · Coder: นายอเสข ปัญญาวงค์ · Debugger / 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1772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FB2D4"/>
                </a:solidFill>
                <a:latin typeface="Leelawadee UI"/>
                <a:cs typeface="Leelawadee UI"/>
              </a:rPr>
              <a:t>ผู้บรรยาย: Debugger · 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834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FB2D4"/>
                </a:solidFill>
                <a:latin typeface="Leelawadee UI"/>
                <a:cs typeface="Leelawadee UI"/>
              </a:rPr>
              <a:t>This product uses the TMDB API but is not endorsed or certified by TMDB.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Leelawadee UI"/>
                <a:cs typeface="Leelawadee UI"/>
              </a:rPr>
              <a:t>โครงสร้างโปรเจกต์ (Project Structure)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98280" y="91440"/>
            <a:ext cx="258775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BFD1E8"/>
                </a:solidFill>
                <a:latin typeface="Leelawadee UI"/>
                <a:cs typeface="Leelawadee UI"/>
              </a:rPr>
              <a:t>Sprint 1 · 10 นาที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07008"/>
            <a:ext cx="6446520" cy="48920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Leelawadee UI"/>
                <a:cs typeface="Leelawadee UI"/>
              </a:rPr>
              <a:t>ไฟล์และโฟลเดอร์บน GitHub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>
                <a:solidFill>
                  <a:srgbClr val="1A1A1A"/>
                </a:solidFill>
                <a:latin typeface="Leelawadee UI"/>
                <a:cs typeface="Leelawadee UI"/>
              </a:rPr>
              <a:t>Movie-Discovery/                        ← repo บน GitHub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├─ README.md                            คู่มือติดตั้ง/ใช้งาน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├─ .github/workflows/ci.yml             CI/CD (flake8 → pytest)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└─ sprint1/                             งาน Sprint 1 ทั้งหมด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   ├─ Sprint1_MovieDiscovery.ipynb      รายงาน Sprint 1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   ├─ Sprint1_…_Presentation.pptx      สไลด์นำเสนอ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   └─ script-final-project/             โค้ดโปรแกรมทั้งหมด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      ├─ PLAN.md · requirements.txt · setup.cfg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      ├─ src/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      │   ├─ app.py · cli.py            Presentation Layer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      │   ├─ sample_data.py             ข้อมูลตัวอย่าง 5 เรื่อง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      │   └─ tmdb_client · movie_store · discovery ·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      │      watchlist · exporter · config    ฐานราก Sprint 2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      ├─ tests/                         ชุดทดสอบอัตโนมัติ 40 เคส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      └─ data/                          ที่จัดเก็บข้อมูล (Sprint 2+)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207008"/>
            <a:ext cx="4507992" cy="48920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Leelawadee UI"/>
                <a:cs typeface="Leelawadee UI"/>
              </a:rPr>
              <a:t>การแบ่งเลเยอร์สถาปัตยกรรม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1">
                <a:solidFill>
                  <a:srgbClr val="1F3864"/>
                </a:solidFill>
                <a:latin typeface="Leelawadee UI"/>
                <a:cs typeface="Leelawadee UI"/>
              </a:rPr>
              <a:t>✓  Presentation Layer — ส่งมอบแล้ว (Sprint 1)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150" b="0">
                <a:solidFill>
                  <a:srgbClr val="595959"/>
                </a:solidFill>
                <a:latin typeface="Leelawadee UI"/>
                <a:cs typeface="Leelawadee UI"/>
              </a:rPr>
              <a:t>cli.py · app.py — เมนู รับคำสั่ง ตรวจสอบอินพุต แสดงผล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1">
                <a:solidFill>
                  <a:srgbClr val="1F3864"/>
                </a:solidFill>
                <a:latin typeface="Leelawadee UI"/>
                <a:cs typeface="Leelawadee UI"/>
              </a:rPr>
              <a:t>○  Business Logic Layer — Sprint 2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150" b="0">
                <a:solidFill>
                  <a:srgbClr val="595959"/>
                </a:solidFill>
                <a:latin typeface="Leelawadee UI"/>
                <a:cs typeface="Leelawadee UI"/>
              </a:rPr>
              <a:t>discovery.py · watchlist.py — คัดเลือก จัดอันดับ กรอง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1">
                <a:solidFill>
                  <a:srgbClr val="1F3864"/>
                </a:solidFill>
                <a:latin typeface="Leelawadee UI"/>
                <a:cs typeface="Leelawadee UI"/>
              </a:rPr>
              <a:t>○  Data Access Layer — Sprint 2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>
                <a:solidFill>
                  <a:srgbClr val="595959"/>
                </a:solidFill>
                <a:latin typeface="Leelawadee UI"/>
                <a:cs typeface="Leelawadee UI"/>
              </a:rPr>
              <a:t>tmdb_client.py (API) · movie_store.py (SQLite)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150" b="0">
                <a:solidFill>
                  <a:srgbClr val="595959"/>
                </a:solidFill>
                <a:latin typeface="Leelawadee UI"/>
                <a:cs typeface="Leelawadee UI"/>
              </a:rPr>
              <a:t>exporter.py (CSV) · sample_data.py (ข้อมูลจำลอง Sprint 1)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150" b="0">
                <a:solidFill>
                  <a:srgbClr val="595959"/>
                </a:solidFill>
                <a:latin typeface="Leelawadee UI"/>
                <a:cs typeface="Leelawadee UI"/>
              </a:rPr>
              <a:t>Sprint 3 (Full-Stack): เชื่อมทุกเลเยอร์เข้าด้วยกัน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B00000"/>
                </a:solidFill>
                <a:latin typeface="Leelawadee UI"/>
                <a:cs typeface="Leelawadee UI"/>
              </a:rPr>
              <a:t>แยกชั้นตามคู่มือรายวิชา (Separation of Concerns)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Leelawadee UI"/>
                <a:cs typeface="Leelawadee UI"/>
              </a:rPr>
              <a:t>CI/CD Pipeline — 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98280" y="91440"/>
            <a:ext cx="258775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BFD1E8"/>
                </a:solidFill>
                <a:latin typeface="Leelawadee UI"/>
                <a:cs typeface="Leelawadee UI"/>
              </a:rPr>
              <a:t>Sprint 1 · 10 นาที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989320" cy="71323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28016" rIns="73152" bIns="12801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3864"/>
                </a:solidFill>
                <a:latin typeface="Leelawadee UI"/>
                <a:cs typeface="Leelawadee UI"/>
              </a:rPr>
              <a:t>Developer: git push / Pull Request</a:t>
            </a:r>
          </a:p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050" b="0">
                <a:solidFill>
                  <a:srgbClr val="595959"/>
                </a:solidFill>
                <a:latin typeface="Leelawadee UI"/>
                <a:cs typeface="Leelawadee UI"/>
              </a:rPr>
              <a:t>อัปโหลดโค้ดขึ้น GitHub — ทุกครั้งที่ push หรือเปิด PR</a:t>
            </a:r>
          </a:p>
        </p:txBody>
      </p:sp>
      <p:sp>
        <p:nvSpPr>
          <p:cNvPr id="6" name="Down Arrow 5"/>
          <p:cNvSpPr/>
          <p:nvPr/>
        </p:nvSpPr>
        <p:spPr>
          <a:xfrm>
            <a:off x="3406140" y="1975103"/>
            <a:ext cx="182880" cy="155448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2157984"/>
            <a:ext cx="5989320" cy="71323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28016" rIns="73152" bIns="12801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3864"/>
                </a:solidFill>
                <a:latin typeface="Leelawadee UI"/>
                <a:cs typeface="Leelawadee UI"/>
              </a:rPr>
              <a:t>GitHub Actions Runner — ubuntu-latest · Python 3.11</a:t>
            </a:r>
          </a:p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050" b="0">
                <a:solidFill>
                  <a:srgbClr val="595959"/>
                </a:solidFill>
                <a:latin typeface="Leelawadee UI"/>
                <a:cs typeface="Leelawadee UI"/>
              </a:rPr>
              <a:t>เครื่องรันอัตโนมัติของ GitHub</a:t>
            </a:r>
          </a:p>
        </p:txBody>
      </p:sp>
      <p:sp>
        <p:nvSpPr>
          <p:cNvPr id="8" name="Down Arrow 7"/>
          <p:cNvSpPr/>
          <p:nvPr/>
        </p:nvSpPr>
        <p:spPr>
          <a:xfrm>
            <a:off x="3406140" y="2898647"/>
            <a:ext cx="182880" cy="155448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3081527"/>
            <a:ext cx="5989320" cy="71323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28016" rIns="73152" bIns="12801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3864"/>
                </a:solidFill>
                <a:latin typeface="Leelawadee UI"/>
                <a:cs typeface="Leelawadee UI"/>
              </a:rPr>
              <a:t>ขั้นที่ 1 · Lint:  flake8 src tests</a:t>
            </a:r>
          </a:p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050" b="0">
                <a:solidFill>
                  <a:srgbClr val="1E7B34"/>
                </a:solidFill>
                <a:latin typeface="Leelawadee UI"/>
                <a:cs typeface="Leelawadee UI"/>
              </a:rPr>
              <a:t>ผ่าน = 0 ข้อผิดพลาด (มาตรฐาน PEP 8)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406140" y="3822191"/>
            <a:ext cx="182880" cy="155448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" y="4005072"/>
            <a:ext cx="5989320" cy="71323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28016" rIns="73152" bIns="12801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3864"/>
                </a:solidFill>
                <a:latin typeface="Leelawadee UI"/>
                <a:cs typeface="Leelawadee UI"/>
              </a:rPr>
              <a:t>ขั้นที่ 2 · Test:  python -m pytest -q</a:t>
            </a:r>
          </a:p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050" b="0">
                <a:solidFill>
                  <a:srgbClr val="1E7B34"/>
                </a:solidFill>
                <a:latin typeface="Leelawadee UI"/>
                <a:cs typeface="Leelawadee UI"/>
              </a:rPr>
              <a:t>ผ่าน = 40/40 passed (ทดสอบอัตโนมัติ)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406140" y="4745736"/>
            <a:ext cx="182880" cy="155448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920" y="4928616"/>
            <a:ext cx="5989320" cy="713232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28016" rIns="73152" bIns="128016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Leelawadee UI"/>
                <a:cs typeface="Leelawadee UI"/>
              </a:rPr>
              <a:t>ผลลัพธ์: CI เขียวทุก commit บน main</a:t>
            </a:r>
          </a:p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050" b="0">
                <a:solidFill>
                  <a:srgbClr val="BFD1E8"/>
                </a:solidFill>
                <a:latin typeface="Leelawadee UI"/>
                <a:cs typeface="Leelawadee UI"/>
              </a:rPr>
              <a:t>ถ้าขั้นใดไม่ผ่าน → หยุดทันที + แจ้งเตือน (แก้แล้ว push ใหม่)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1234440"/>
            <a:ext cx="4965192" cy="2514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  <a:latin typeface="Leelawadee UI"/>
                <a:cs typeface="Leelawadee UI"/>
              </a:rPr>
              <a:t>ภายในไฟล์ .github/workflows/ci.yml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Leelawadee UI"/>
                <a:cs typeface="Leelawadee UI"/>
              </a:rPr>
              <a:t>on:  push · pull_request   ← ทำงานเมื่อไหร่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Leelawadee UI"/>
                <a:cs typeface="Leelawadee UI"/>
              </a:rPr>
              <a:t>runs-on:  ubuntu-latest    ← เครื่องรัน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Leelawadee UI"/>
                <a:cs typeface="Leelawadee UI"/>
              </a:rPr>
              <a:t>python-version:  '3.11'    ← เวอร์ชัน Python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Leelawadee UI"/>
                <a:cs typeface="Leelawadee UI"/>
              </a:rPr>
              <a:t>steps: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Leelawadee UI"/>
                <a:cs typeface="Leelawadee UI"/>
              </a:rPr>
              <a:t>1) flake8  →  ตรวจมาตรฐาน PEP 8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Leelawadee UI"/>
                <a:cs typeface="Leelawadee UI"/>
              </a:rPr>
              <a:t>2) pytest  →  ทดสอบอัตโนมัติ 40 เคส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3931920"/>
            <a:ext cx="4965192" cy="216712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  <a:latin typeface="Leelawadee UI"/>
                <a:cs typeface="Leelawadee UI"/>
              </a:rPr>
              <a:t>ทำงานร่วมกับทุก Sprint ต่อจากนี้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Leelawadee UI"/>
                <a:cs typeface="Leelawadee UI"/>
              </a:rPr>
              <a:t>•  Sprint 1: ตรวจ CLI + เทสต์ 40 เคส อัตโนมัติ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Leelawadee UI"/>
                <a:cs typeface="Leelawadee UI"/>
              </a:rPr>
              <a:t>•  Sprint 2–3: เทสต์ใหม่ถูกตรวจทันที โดยไม่ต้องตั้งค่าเพิ่ม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Leelawadee UI"/>
                <a:cs typeface="Leelawadee UI"/>
              </a:rPr>
              <a:t>•  เป็น Pipeline จริง (ไม่ใช่จำลอง) — ทำงานบน GitHub ทุก commit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Leelawadee UI"/>
                <a:cs typeface="Leelawadee UI"/>
              </a:rPr>
              <a:t>ข้อมูลตัวอย่างในโปรแกรม (Sample Dataset)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98280" y="91440"/>
            <a:ext cx="258775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BFD1E8"/>
                </a:solidFill>
                <a:latin typeface="Leelawadee UI"/>
                <a:cs typeface="Leelawadee UI"/>
              </a:rPr>
              <a:t>Sprint 1 · 10 นาที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24712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Leelawadee UI"/>
                          <a:cs typeface="Leelawadee UI"/>
                        </a:rPr>
                        <a:t>รหัส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Leelawadee UI"/>
                          <a:cs typeface="Leelawadee UI"/>
                        </a:rPr>
                        <a:t>ชื่อเรื่อง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Leelawadee UI"/>
                          <a:cs typeface="Leelawadee UI"/>
                        </a:rPr>
                        <a:t>วันฉาย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Leelawadee UI"/>
                          <a:cs typeface="Leelawadee UI"/>
                        </a:rPr>
                        <a:t>คะแนน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Leelawadee UI"/>
                          <a:cs typeface="Leelawadee UI"/>
                        </a:rPr>
                        <a:t>จำนวนโหวต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Leelawadee UI"/>
                          <a:cs typeface="Leelawadee UI"/>
                        </a:rPr>
                        <a:t>ความนิยม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101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Alpha Signal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2010-05-01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7.8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1200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40.0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102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Bravo Horizon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2014-09-12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6.1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300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22.0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103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Cobalt Night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1999-01-20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8.4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2100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55.0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104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Delta Echo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—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5.0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50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5.0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105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Emerald Run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2021-11-05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8.0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900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Leelawadee UI"/>
                          <a:cs typeface="Leelawadee UI"/>
                        </a:rPr>
                        <a:t>30.0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041648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Leelawadee UI"/>
                <a:cs typeface="Leelawadee UI"/>
              </a:rPr>
              <a:t>ที่มา: src/sample_data.py — 5 เรื่องฝังในโค้ด (104: ค่าวันฉายว่าง ตามข้อมูลจริง)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370832"/>
            <a:ext cx="5806440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400" b="1">
                <a:solidFill>
                  <a:srgbClr val="1F3864"/>
                </a:solidFill>
                <a:latin typeface="Leelawadee UI"/>
                <a:cs typeface="Leelawadee UI"/>
              </a:rPr>
              <a:t>หน้าตาในโค้ด — 1 รายการ (dict)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{"id": 101,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 "title": "Alpha Signal",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 "release_date": "2010-05-01",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 "vote_average": 7.8,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 "vote_count": 1200,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Leelawadee UI"/>
                <a:cs typeface="Leelawadee UI"/>
              </a:rPr>
              <a:t> "popularity": 40.0}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73952" y="4370832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28016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400" b="1">
                <a:solidFill>
                  <a:srgbClr val="1F3864"/>
                </a:solidFill>
                <a:latin typeface="Leelawadee UI"/>
                <a:cs typeface="Leelawadee UI"/>
              </a:rPr>
              <a:t>จุดออกแบบในชุดข้อมูลนี้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50" b="0">
                <a:solidFill>
                  <a:srgbClr val="1A1A1A"/>
                </a:solidFill>
                <a:latin typeface="Leelawadee UI"/>
                <a:cs typeface="Leelawadee UI"/>
              </a:rPr>
              <a:t>•  ฟิลด์ครบ 6 ตัว — รูปร่างเดียวกับข้อมูลจริงจาก TMDB (สลับเป็นแหล่งข้อมูลจริงได้ใน Sprint 2)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50" b="0">
                <a:solidFill>
                  <a:srgbClr val="1A1A1A"/>
                </a:solidFill>
                <a:latin typeface="Leelawadee UI"/>
                <a:cs typeface="Leelawadee UI"/>
              </a:rPr>
              <a:t>•  104 Delta Echo ไม่มีวันฉาย → เคสทดสอบแสดง “----” และถูกตัดเมื่อกรองด้วยช่วงปี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50" b="0">
                <a:solidFill>
                  <a:srgbClr val="1A1A1A"/>
                </a:solidFill>
                <a:latin typeface="Leelawadee UI"/>
                <a:cs typeface="Leelawadee UI"/>
              </a:rPr>
              <a:t>•  คะแนน 5.0–8.4 ไม่ซ้ำกัน → ผลเรียงคงที่ ทดสอบซ้ำได้ผลเดิม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50" b="0">
                <a:solidFill>
                  <a:srgbClr val="1A1A1A"/>
                </a:solidFill>
                <a:latin typeface="Leelawadee UI"/>
                <a:cs typeface="Leelawadee UI"/>
              </a:rPr>
              <a:t>•  เทสต์ทุกไฟล์อ้างชุดนี้ (fakes.py) · เป็นฉากของเดโม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3375</Words>
  <Application>Microsoft Office PowerPoint</Application>
  <PresentationFormat>Widescreen</PresentationFormat>
  <Paragraphs>416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Leelawadee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1 Presentation — Movie Discovery &amp; Watchlist Builder</dc:title>
  <dc:subject>CP352301 Script Programming (1/2569) Final Term Project</dc:subject>
  <dc:creator>CP352301 Team — Movie Discovery</dc:creator>
  <cp:keywords/>
  <dc:description>generated using python-pptx</dc:description>
  <cp:lastModifiedBy>Asek Panyawong</cp:lastModifiedBy>
  <cp:revision>2</cp:revision>
  <dcterms:created xsi:type="dcterms:W3CDTF">2013-01-27T09:14:16Z</dcterms:created>
  <dcterms:modified xsi:type="dcterms:W3CDTF">2026-09-16T17:26:27Z</dcterms:modified>
  <cp:category/>
</cp:coreProperties>
</file>